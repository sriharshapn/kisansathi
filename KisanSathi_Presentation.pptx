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4.svg" ContentType="image/svg+xml"/>
  <Override PartName="/ppt/media/image-3-10.svg" ContentType="image/svg+xml"/>
  <Override PartName="/ppt/media/image-3-13.svg" ContentType="image/svg+xml"/>
  <Override PartName="/ppt/media/image-3-16.svg" ContentType="image/svg+xml"/>
  <Override PartName="/ppt/media/image-3-19.svg" ContentType="image/svg+xml"/>
  <Override PartName="/ppt/media/image-3-4.svg" ContentType="image/svg+xml"/>
  <Override PartName="/ppt/media/image-3-7.svg" ContentType="image/svg+xml"/>
  <Override PartName="/ppt/media/image-4-11.svg" ContentType="image/svg+xml"/>
  <Override PartName="/ppt/media/image-4-13.svg" ContentType="image/svg+xml"/>
  <Override PartName="/ppt/media/image-4-15.svg" ContentType="image/svg+xml"/>
  <Override PartName="/ppt/media/image-4-17.svg" ContentType="image/svg+xml"/>
  <Override PartName="/ppt/media/image-4-19.svg" ContentType="image/svg+xml"/>
  <Override PartName="/ppt/media/image-4-21.svg" ContentType="image/svg+xml"/>
  <Override PartName="/ppt/media/image-4-3.svg" ContentType="image/svg+xml"/>
  <Override PartName="/ppt/media/image-4-5.svg" ContentType="image/svg+xml"/>
  <Override PartName="/ppt/media/image-4-7.svg" ContentType="image/svg+xml"/>
  <Override PartName="/ppt/media/image-4-9.svg" ContentType="image/svg+xml"/>
  <Override PartName="/ppt/media/image-7-11.svg" ContentType="image/svg+xml"/>
  <Override PartName="/ppt/media/image-7-15.svg" ContentType="image/svg+xml"/>
  <Override PartName="/ppt/media/image-7-3.svg" ContentType="image/svg+xml"/>
  <Override PartName="/ppt/media/image-7-7.svg" ContentType="image/svg+xml"/>
  <Override PartName="/ppt/media/image-9-10.svg" ContentType="image/svg+xml"/>
  <Override PartName="/ppt/media/image-9-12.svg" ContentType="image/svg+xml"/>
  <Override PartName="/ppt/media/image-9-14.svg" ContentType="image/svg+xml"/>
  <Override PartName="/ppt/media/image-9-4.svg" ContentType="image/svg+xml"/>
  <Override PartName="/ppt/media/image-9-6.svg" ContentType="image/svg+xml"/>
  <Override PartName="/ppt/media/image-9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Manrope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5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3.png"/><Relationship Id="rId6" Type="http://schemas.openxmlformats.org/officeDocument/2006/relationships/image" Target="../media/image-2-4.svg"/><Relationship Id="rId7" Type="http://schemas.openxmlformats.org/officeDocument/2006/relationships/image" Target="../media/image-2-3.png"/><Relationship Id="rId8" Type="http://schemas.openxmlformats.org/officeDocument/2006/relationships/image" Target="../media/image-2-4.svg"/><Relationship Id="rId9" Type="http://schemas.openxmlformats.org/officeDocument/2006/relationships/image" Target="../media/image-2-3.png"/><Relationship Id="rId10" Type="http://schemas.openxmlformats.org/officeDocument/2006/relationships/image" Target="../media/image-2-4.svg"/><Relationship Id="rId11" Type="http://schemas.openxmlformats.org/officeDocument/2006/relationships/image" Target="../media/image-2-3.png"/><Relationship Id="rId12" Type="http://schemas.openxmlformats.org/officeDocument/2006/relationships/image" Target="../media/image-2-4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svg"/><Relationship Id="rId20" Type="http://schemas.openxmlformats.org/officeDocument/2006/relationships/slideLayout" Target="../slideLayouts/slideLayout3.xml"/><Relationship Id="rId2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svg"/><Relationship Id="rId18" Type="http://schemas.openxmlformats.org/officeDocument/2006/relationships/image" Target="../media/image-4-18.png"/><Relationship Id="rId19" Type="http://schemas.openxmlformats.org/officeDocument/2006/relationships/image" Target="../media/image-4-19.svg"/><Relationship Id="rId20" Type="http://schemas.openxmlformats.org/officeDocument/2006/relationships/image" Target="../media/image-4-20.png"/><Relationship Id="rId21" Type="http://schemas.openxmlformats.org/officeDocument/2006/relationships/image" Target="../media/image-4-21.svg"/><Relationship Id="rId22" Type="http://schemas.openxmlformats.org/officeDocument/2006/relationships/slideLayout" Target="../slideLayouts/slideLayout3.xml"/><Relationship Id="rId2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6.png"/><Relationship Id="rId9" Type="http://schemas.openxmlformats.org/officeDocument/2006/relationships/image" Target="../media/image-7-7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0.png"/><Relationship Id="rId13" Type="http://schemas.openxmlformats.org/officeDocument/2006/relationships/image" Target="../media/image-7-11.svg"/><Relationship Id="rId14" Type="http://schemas.openxmlformats.org/officeDocument/2006/relationships/image" Target="../media/image-7-14.png"/><Relationship Id="rId15" Type="http://schemas.openxmlformats.org/officeDocument/2006/relationships/image" Target="../media/image-7-15.sv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21891"/>
            <a:ext cx="2952279" cy="251420"/>
          </a:xfrm>
          <a:prstGeom prst="roundRect">
            <a:avLst>
              <a:gd name="adj" fmla="val 22103"/>
            </a:avLst>
          </a:prstGeom>
          <a:solidFill>
            <a:srgbClr val="D4F7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691" y="1381423"/>
            <a:ext cx="132255" cy="132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9024" y="1371501"/>
            <a:ext cx="316509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BUILD WITH AI HACKATHON 2.0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1639391"/>
            <a:ext cx="10868745" cy="155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750" spc="98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KisanSathi</a:t>
            </a:r>
            <a:endParaRPr lang="en-US" sz="9750" dirty="0"/>
          </a:p>
        </p:txBody>
      </p:sp>
      <p:sp>
        <p:nvSpPr>
          <p:cNvPr id="6" name="Text 3"/>
          <p:cNvSpPr/>
          <p:nvPr/>
        </p:nvSpPr>
        <p:spPr>
          <a:xfrm>
            <a:off x="661475" y="3437930"/>
            <a:ext cx="10868745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600" spc="2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AI-Powered Agricultural Market Intelligence &amp; Farmer Support Platform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56682" y="4512866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AI Agricultural Platform · Google Cloud Hack2skill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1475" y="4946948"/>
            <a:ext cx="10868745" cy="589062"/>
          </a:xfrm>
          <a:prstGeom prst="roundRect">
            <a:avLst>
              <a:gd name="adj" fmla="val 11792"/>
            </a:avLst>
          </a:prstGeom>
          <a:solidFill>
            <a:srgbClr val="ECF0EF"/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4946948"/>
            <a:ext cx="2717137" cy="589062"/>
          </a:xfrm>
          <a:custGeom>
            <a:avLst/>
            <a:gdLst/>
            <a:ahLst/>
            <a:cxnLst/>
            <a:rect l="l" t="t" r="r" b="b"/>
            <a:pathLst>
              <a:path w="2717137" h="589062">
                <a:moveTo>
                  <a:pt x="57887" y="0"/>
                </a:moveTo>
                <a:lnTo>
                  <a:pt x="2717137" y="0"/>
                </a:lnTo>
                <a:lnTo>
                  <a:pt x="2717137" y="589062"/>
                </a:lnTo>
                <a:lnTo>
                  <a:pt x="57887" y="589062"/>
                </a:lnTo>
                <a:arcTo hR="57888" wR="57887" stAng="5400000" swAng="5400000"/>
                <a:lnTo>
                  <a:pt x="0" y="57888"/>
                </a:lnTo>
                <a:arcTo hR="57888" wR="57887" stAng="10800000" swAng="5400000"/>
                <a:close/>
              </a:path>
            </a:pathLst>
          </a:custGeom>
          <a:solidFill>
            <a:srgbClr val="ECF0EF"/>
          </a:solidFill>
          <a:ln/>
        </p:spPr>
      </p:sp>
      <p:sp>
        <p:nvSpPr>
          <p:cNvPr id="10" name="Text 7"/>
          <p:cNvSpPr/>
          <p:nvPr/>
        </p:nvSpPr>
        <p:spPr>
          <a:xfrm>
            <a:off x="826769" y="5112246"/>
            <a:ext cx="23865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APMC Mandi Intelligence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78612" y="4946948"/>
            <a:ext cx="2717236" cy="589062"/>
          </a:xfrm>
          <a:prstGeom prst="rect">
            <a:avLst/>
          </a:prstGeom>
          <a:solidFill>
            <a:srgbClr val="ECF0EF"/>
          </a:solidFill>
          <a:ln/>
        </p:spPr>
      </p:sp>
      <p:sp>
        <p:nvSpPr>
          <p:cNvPr id="12" name="Shape 9"/>
          <p:cNvSpPr/>
          <p:nvPr/>
        </p:nvSpPr>
        <p:spPr>
          <a:xfrm>
            <a:off x="3378612" y="4946948"/>
            <a:ext cx="19050" cy="589062"/>
          </a:xfrm>
          <a:prstGeom prst="roundRect">
            <a:avLst>
              <a:gd name="adj" fmla="val 49999"/>
            </a:avLst>
          </a:prstGeom>
          <a:solidFill>
            <a:srgbClr val="D2D6D5"/>
          </a:solidFill>
          <a:ln/>
        </p:spPr>
      </p:sp>
      <p:sp>
        <p:nvSpPr>
          <p:cNvPr id="13" name="Text 10"/>
          <p:cNvSpPr/>
          <p:nvPr/>
        </p:nvSpPr>
        <p:spPr>
          <a:xfrm>
            <a:off x="3543906" y="5112246"/>
            <a:ext cx="23866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Gemini 2.0 Agronomy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95848" y="4946948"/>
            <a:ext cx="2717137" cy="589062"/>
          </a:xfrm>
          <a:prstGeom prst="rect">
            <a:avLst/>
          </a:prstGeom>
          <a:solidFill>
            <a:srgbClr val="ECF0EF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5848" y="4946948"/>
            <a:ext cx="19050" cy="589062"/>
          </a:xfrm>
          <a:prstGeom prst="roundRect">
            <a:avLst>
              <a:gd name="adj" fmla="val 49999"/>
            </a:avLst>
          </a:prstGeom>
          <a:solidFill>
            <a:srgbClr val="D2D6D5"/>
          </a:solidFill>
          <a:ln/>
        </p:spPr>
      </p:sp>
      <p:sp>
        <p:nvSpPr>
          <p:cNvPr id="16" name="Text 13"/>
          <p:cNvSpPr/>
          <p:nvPr/>
        </p:nvSpPr>
        <p:spPr>
          <a:xfrm>
            <a:off x="6261142" y="5112246"/>
            <a:ext cx="23865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Sentinel-2 Geospatial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812984" y="4946948"/>
            <a:ext cx="2717236" cy="589062"/>
          </a:xfrm>
          <a:custGeom>
            <a:avLst/>
            <a:gdLst/>
            <a:ahLst/>
            <a:cxnLst/>
            <a:rect l="l" t="t" r="r" b="b"/>
            <a:pathLst>
              <a:path w="2717236" h="589062">
                <a:moveTo>
                  <a:pt x="0" y="0"/>
                </a:moveTo>
                <a:lnTo>
                  <a:pt x="2659349" y="0"/>
                </a:lnTo>
                <a:arcTo hR="57888" wR="57887" stAng="16200000" swAng="5400000"/>
                <a:lnTo>
                  <a:pt x="2717236" y="531173"/>
                </a:lnTo>
                <a:arcTo hR="57888" wR="57887" stAng="0" swAng="5400000"/>
                <a:lnTo>
                  <a:pt x="0" y="589062"/>
                </a:lnTo>
                <a:lnTo>
                  <a:pt x="0" y="0"/>
                </a:lnTo>
                <a:close/>
              </a:path>
            </a:pathLst>
          </a:custGeom>
          <a:solidFill>
            <a:srgbClr val="ECF0EF"/>
          </a:solidFill>
          <a:ln/>
        </p:spPr>
      </p:sp>
      <p:sp>
        <p:nvSpPr>
          <p:cNvPr id="18" name="Shape 15"/>
          <p:cNvSpPr/>
          <p:nvPr/>
        </p:nvSpPr>
        <p:spPr>
          <a:xfrm>
            <a:off x="8812984" y="4946948"/>
            <a:ext cx="19050" cy="589062"/>
          </a:xfrm>
          <a:prstGeom prst="roundRect">
            <a:avLst>
              <a:gd name="adj" fmla="val 49999"/>
            </a:avLst>
          </a:prstGeom>
          <a:solidFill>
            <a:srgbClr val="D2D6D5"/>
          </a:solidFill>
          <a:ln/>
        </p:spPr>
      </p:sp>
      <p:sp>
        <p:nvSpPr>
          <p:cNvPr id="19" name="Text 16"/>
          <p:cNvSpPr/>
          <p:nvPr/>
        </p:nvSpPr>
        <p:spPr>
          <a:xfrm>
            <a:off x="8978279" y="5112246"/>
            <a:ext cx="23866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10 Regional Languages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57510"/>
            <a:ext cx="1212026" cy="226219"/>
          </a:xfrm>
          <a:prstGeom prst="roundRect">
            <a:avLst>
              <a:gd name="adj" fmla="val 22109"/>
            </a:avLst>
          </a:prstGeom>
          <a:solidFill>
            <a:srgbClr val="D4F7F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69" y="611088"/>
            <a:ext cx="119060" cy="1190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9359" y="602159"/>
            <a:ext cx="1464432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61475" y="837307"/>
            <a:ext cx="6296860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spc="29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Small Farmers Lack Unified Decision Support</a:t>
            </a:r>
            <a:pPr algn="l" indent="0" marL="0">
              <a:lnSpc>
                <a:spcPct val="104000"/>
              </a:lnSpc>
              <a:buNone/>
            </a:pPr>
            <a:endParaRPr lang="en-US" sz="2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234" y="1973114"/>
            <a:ext cx="223237" cy="2232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45154" y="1968500"/>
            <a:ext cx="581318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Fragmented Agricultural Information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1145154" y="2281337"/>
            <a:ext cx="5813180" cy="42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prices, weather forecasts, and soil advisory scattered across disconnected government portals.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234" y="2977902"/>
            <a:ext cx="223237" cy="2232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5154" y="2973288"/>
            <a:ext cx="581318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Severe Price Asymmetry &amp; Middlemen Opacity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1145154" y="3286125"/>
            <a:ext cx="5813180" cy="42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opacity forces distress sales to intermediaries without modal, min, and max mandi price transparency.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234" y="3982690"/>
            <a:ext cx="223237" cy="2232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45154" y="3978077"/>
            <a:ext cx="581318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Zero Pre-Harvest Value Estimation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1145154" y="4290913"/>
            <a:ext cx="5813180" cy="21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Farmers struggle to calculate net returns after factoring in packaging, transport logistics, and mandi fees.</a:t>
            </a:r>
            <a:endParaRPr lang="en-US" sz="11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7234" y="4775448"/>
            <a:ext cx="223237" cy="22324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45154" y="4770834"/>
            <a:ext cx="581318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Delayed Field Crop Disease Diagnosis</a:t>
            </a:r>
            <a:endParaRPr lang="en-US" sz="1450" dirty="0"/>
          </a:p>
        </p:txBody>
      </p:sp>
      <p:sp>
        <p:nvSpPr>
          <p:cNvPr id="18" name="Text 10"/>
          <p:cNvSpPr/>
          <p:nvPr/>
        </p:nvSpPr>
        <p:spPr>
          <a:xfrm>
            <a:off x="1145154" y="5083671"/>
            <a:ext cx="5813180" cy="21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Preventable crop failures spread rapidly with no accessible, on-field AI visual diagnosis tool for leaves.</a:t>
            </a:r>
            <a:endParaRPr lang="en-US" sz="11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7234" y="5568206"/>
            <a:ext cx="223237" cy="22324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145154" y="5563592"/>
            <a:ext cx="581318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15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Language &amp; Digital Literacy Barriers</a:t>
            </a:r>
            <a:endParaRPr lang="en-US" sz="1450" dirty="0"/>
          </a:p>
        </p:txBody>
      </p:sp>
      <p:sp>
        <p:nvSpPr>
          <p:cNvPr id="21" name="Text 12"/>
          <p:cNvSpPr/>
          <p:nvPr/>
        </p:nvSpPr>
        <p:spPr>
          <a:xfrm>
            <a:off x="1145154" y="5876429"/>
            <a:ext cx="5813180" cy="424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advisories and market analytics are locked behind complex English-only dashboards.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8747"/>
            <a:ext cx="1419388" cy="251420"/>
          </a:xfrm>
          <a:prstGeom prst="roundRect">
            <a:avLst>
              <a:gd name="adj" fmla="val 22103"/>
            </a:avLst>
          </a:prstGeom>
          <a:solidFill>
            <a:srgbClr val="D4F7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691" y="828278"/>
            <a:ext cx="132255" cy="132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9024" y="818356"/>
            <a:ext cx="163220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108624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spc="3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KisanSathi — One Platform, All Decisions</a:t>
            </a:r>
            <a:pPr algn="ctr" indent="0" marL="0">
              <a:lnSpc>
                <a:spcPct val="104000"/>
              </a:lnSpc>
              <a:buNone/>
            </a:pP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356682" y="1851025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unified farmer intelligence ecosystem combining real-time APMC mandi analytics, Gemini 2.0 multimodal agronomy, Sentinel-2 geospatial indices, and official cadastre.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1475" y="2533551"/>
            <a:ext cx="35322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Mandi Market Intelligence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475" y="2891234"/>
            <a:ext cx="353229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modal rates across 3,000+ mandis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772" y="2285107"/>
            <a:ext cx="3804051" cy="380414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9686" y="3222476"/>
            <a:ext cx="232563" cy="2325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97823" y="2533551"/>
            <a:ext cx="35323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 Explanation &amp; Advisory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997823" y="2891234"/>
            <a:ext cx="353239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2.0 market insights &amp; seasonal crop guide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72" y="2285107"/>
            <a:ext cx="3804051" cy="3804146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9149" y="3222476"/>
            <a:ext cx="232563" cy="23256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328511" y="3884216"/>
            <a:ext cx="320170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Satellite &amp; NDVI Telemetry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328511" y="4241899"/>
            <a:ext cx="320170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Sentinel-2 &amp; GEE crop vigor &amp; water stress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3772" y="2285107"/>
            <a:ext cx="3804051" cy="3804146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58979" y="4070796"/>
            <a:ext cx="232563" cy="232569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997823" y="5234980"/>
            <a:ext cx="35323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Hyperlocal Ag Weather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7997823" y="5592663"/>
            <a:ext cx="353239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microclimate data &amp; spray window alerts</a:t>
            </a:r>
            <a:endParaRPr lang="en-US" sz="13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3772" y="2285107"/>
            <a:ext cx="3804051" cy="3804146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69149" y="4919117"/>
            <a:ext cx="232563" cy="232569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61475" y="5234980"/>
            <a:ext cx="35322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Plant Disease Diagnosis</a:t>
            </a:r>
            <a:endParaRPr lang="en-US" sz="1600" dirty="0"/>
          </a:p>
        </p:txBody>
      </p:sp>
      <p:sp>
        <p:nvSpPr>
          <p:cNvPr id="24" name="Text 13"/>
          <p:cNvSpPr/>
          <p:nvPr/>
        </p:nvSpPr>
        <p:spPr>
          <a:xfrm>
            <a:off x="661475" y="5592663"/>
            <a:ext cx="353229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Vision leaf pathology &amp; organic remedies</a:t>
            </a:r>
            <a:endParaRPr lang="en-US" sz="13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3772" y="2285107"/>
            <a:ext cx="3804051" cy="3804146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89686" y="4919117"/>
            <a:ext cx="232563" cy="232569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661475" y="3884216"/>
            <a:ext cx="320161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10 Languages &amp; IVR Support</a:t>
            </a:r>
            <a:endParaRPr lang="en-US" sz="1600" dirty="0"/>
          </a:p>
        </p:txBody>
      </p:sp>
      <p:sp>
        <p:nvSpPr>
          <p:cNvPr id="28" name="Text 15"/>
          <p:cNvSpPr/>
          <p:nvPr/>
        </p:nvSpPr>
        <p:spPr>
          <a:xfrm>
            <a:off x="661475" y="4241899"/>
            <a:ext cx="320161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UI + 1800-180-1551 Kisan Call Centre</a:t>
            </a:r>
            <a:endParaRPr lang="en-US" sz="130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3772" y="2285107"/>
            <a:ext cx="3804051" cy="3804146"/>
          </a:xfrm>
          <a:prstGeom prst="rect">
            <a:avLst/>
          </a:prstGeom>
        </p:spPr>
      </p:pic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99855" y="4070796"/>
            <a:ext cx="232563" cy="2325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2384"/>
            <a:ext cx="1036612" cy="188516"/>
          </a:xfrm>
          <a:prstGeom prst="roundRect">
            <a:avLst>
              <a:gd name="adj" fmla="val 22109"/>
            </a:avLst>
          </a:prstGeom>
          <a:solidFill>
            <a:srgbClr val="D4F7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887" y="707033"/>
            <a:ext cx="99216" cy="99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4711" y="699591"/>
            <a:ext cx="1348548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61475" y="888107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24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10 Production Feature Modules</a:t>
            </a:r>
            <a:pPr algn="l" indent="0" marL="0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61475" y="1415256"/>
            <a:ext cx="3560872" cy="1125339"/>
          </a:xfrm>
          <a:prstGeom prst="roundRect">
            <a:avLst>
              <a:gd name="adj" fmla="val 4630"/>
            </a:avLst>
          </a:prstGeom>
          <a:solidFill>
            <a:srgbClr val="ECF0EF"/>
          </a:solidFill>
          <a:ln/>
        </p:spPr>
      </p:sp>
      <p:sp>
        <p:nvSpPr>
          <p:cNvPr id="7" name="Shape 4"/>
          <p:cNvSpPr/>
          <p:nvPr/>
        </p:nvSpPr>
        <p:spPr>
          <a:xfrm>
            <a:off x="785495" y="1539280"/>
            <a:ext cx="372061" cy="372070"/>
          </a:xfrm>
          <a:prstGeom prst="ellipse">
            <a:avLst/>
          </a:prstGeom>
          <a:solidFill>
            <a:srgbClr val="ECF0E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7787" y="1641574"/>
            <a:ext cx="167378" cy="1673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5495" y="2004318"/>
            <a:ext cx="33128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Mandi / Market Intelligence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85495" y="2253853"/>
            <a:ext cx="3312831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APMC price lookup across 3,000+ mandis with modal spread analysis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315312" y="1415256"/>
            <a:ext cx="3560971" cy="1125339"/>
          </a:xfrm>
          <a:prstGeom prst="roundRect">
            <a:avLst>
              <a:gd name="adj" fmla="val 4630"/>
            </a:avLst>
          </a:prstGeom>
          <a:solidFill>
            <a:srgbClr val="ECF0EF"/>
          </a:solidFill>
          <a:ln/>
        </p:spPr>
      </p:sp>
      <p:sp>
        <p:nvSpPr>
          <p:cNvPr id="12" name="Shape 8"/>
          <p:cNvSpPr/>
          <p:nvPr/>
        </p:nvSpPr>
        <p:spPr>
          <a:xfrm>
            <a:off x="4439333" y="1539280"/>
            <a:ext cx="372061" cy="372070"/>
          </a:xfrm>
          <a:prstGeom prst="ellipse">
            <a:avLst/>
          </a:prstGeom>
          <a:solidFill>
            <a:srgbClr val="ECF0E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1625" y="1641574"/>
            <a:ext cx="167378" cy="1673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39333" y="2004318"/>
            <a:ext cx="331293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Price Trend Analysis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439333" y="2253853"/>
            <a:ext cx="3312930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30-day price trends, volatility metrics &amp; arrival volume tracking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7969249" y="1415256"/>
            <a:ext cx="3560872" cy="1125339"/>
          </a:xfrm>
          <a:prstGeom prst="roundRect">
            <a:avLst>
              <a:gd name="adj" fmla="val 4630"/>
            </a:avLst>
          </a:prstGeom>
          <a:solidFill>
            <a:srgbClr val="ECF0EF"/>
          </a:solidFill>
          <a:ln/>
        </p:spPr>
      </p:sp>
      <p:sp>
        <p:nvSpPr>
          <p:cNvPr id="17" name="Shape 12"/>
          <p:cNvSpPr/>
          <p:nvPr/>
        </p:nvSpPr>
        <p:spPr>
          <a:xfrm>
            <a:off x="8093269" y="1539280"/>
            <a:ext cx="372061" cy="372070"/>
          </a:xfrm>
          <a:prstGeom prst="ellipse">
            <a:avLst/>
          </a:prstGeom>
          <a:solidFill>
            <a:srgbClr val="ECF0E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5561" y="1641574"/>
            <a:ext cx="167378" cy="1673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93269" y="2004318"/>
            <a:ext cx="33128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 Market Explanation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093269" y="2253853"/>
            <a:ext cx="3312831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2.0 grounded market context in simple regional dialects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61475" y="2633563"/>
            <a:ext cx="3560872" cy="1125339"/>
          </a:xfrm>
          <a:prstGeom prst="roundRect">
            <a:avLst>
              <a:gd name="adj" fmla="val 4630"/>
            </a:avLst>
          </a:prstGeom>
          <a:solidFill>
            <a:srgbClr val="ECF0EF"/>
          </a:solidFill>
          <a:ln/>
        </p:spPr>
      </p:sp>
      <p:sp>
        <p:nvSpPr>
          <p:cNvPr id="22" name="Shape 16"/>
          <p:cNvSpPr/>
          <p:nvPr/>
        </p:nvSpPr>
        <p:spPr>
          <a:xfrm>
            <a:off x="785495" y="2757587"/>
            <a:ext cx="372061" cy="372070"/>
          </a:xfrm>
          <a:prstGeom prst="ellipse">
            <a:avLst/>
          </a:prstGeom>
          <a:solidFill>
            <a:srgbClr val="ECF0E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7787" y="2859881"/>
            <a:ext cx="167378" cy="16738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85495" y="3222625"/>
            <a:ext cx="33128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Contextual Crop Advisory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785495" y="3472160"/>
            <a:ext cx="3312831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Agro-climatic crop guidance, sowing windows &amp; nutrient schedules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315312" y="2633563"/>
            <a:ext cx="3560971" cy="1125339"/>
          </a:xfrm>
          <a:prstGeom prst="roundRect">
            <a:avLst>
              <a:gd name="adj" fmla="val 4630"/>
            </a:avLst>
          </a:prstGeom>
          <a:solidFill>
            <a:srgbClr val="ECF0EF"/>
          </a:solidFill>
          <a:ln/>
        </p:spPr>
      </p:sp>
      <p:sp>
        <p:nvSpPr>
          <p:cNvPr id="27" name="Shape 20"/>
          <p:cNvSpPr/>
          <p:nvPr/>
        </p:nvSpPr>
        <p:spPr>
          <a:xfrm>
            <a:off x="4439333" y="2757587"/>
            <a:ext cx="372061" cy="372070"/>
          </a:xfrm>
          <a:prstGeom prst="ellipse">
            <a:avLst/>
          </a:prstGeom>
          <a:solidFill>
            <a:srgbClr val="ECF0E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41625" y="2859881"/>
            <a:ext cx="167378" cy="16738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439333" y="3222625"/>
            <a:ext cx="331293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Plant Disease Diagnosis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4439333" y="3472160"/>
            <a:ext cx="3312930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leaf photo → Gemini Vision diagnoses disease &amp; organic remedies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7969249" y="2633563"/>
            <a:ext cx="3560872" cy="1125339"/>
          </a:xfrm>
          <a:prstGeom prst="roundRect">
            <a:avLst>
              <a:gd name="adj" fmla="val 4630"/>
            </a:avLst>
          </a:prstGeom>
          <a:solidFill>
            <a:srgbClr val="ECF0EF"/>
          </a:solidFill>
          <a:ln/>
        </p:spPr>
      </p:sp>
      <p:sp>
        <p:nvSpPr>
          <p:cNvPr id="32" name="Shape 24"/>
          <p:cNvSpPr/>
          <p:nvPr/>
        </p:nvSpPr>
        <p:spPr>
          <a:xfrm>
            <a:off x="8093269" y="2757587"/>
            <a:ext cx="372061" cy="372070"/>
          </a:xfrm>
          <a:prstGeom prst="ellipse">
            <a:avLst/>
          </a:prstGeom>
          <a:solidFill>
            <a:srgbClr val="ECF0EF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5561" y="2859881"/>
            <a:ext cx="167378" cy="16738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093269" y="3222625"/>
            <a:ext cx="33128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Satellite &amp; NDVI Telemetry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8093269" y="3472160"/>
            <a:ext cx="3312831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Earth Engine + Sentinel-2 multispectral field vigor mapping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661475" y="3851870"/>
            <a:ext cx="3560872" cy="1125339"/>
          </a:xfrm>
          <a:prstGeom prst="roundRect">
            <a:avLst>
              <a:gd name="adj" fmla="val 4630"/>
            </a:avLst>
          </a:prstGeom>
          <a:solidFill>
            <a:srgbClr val="ECF0EF"/>
          </a:solidFill>
          <a:ln/>
        </p:spPr>
      </p:sp>
      <p:sp>
        <p:nvSpPr>
          <p:cNvPr id="37" name="Shape 28"/>
          <p:cNvSpPr/>
          <p:nvPr/>
        </p:nvSpPr>
        <p:spPr>
          <a:xfrm>
            <a:off x="785495" y="3975894"/>
            <a:ext cx="372061" cy="372070"/>
          </a:xfrm>
          <a:prstGeom prst="ellipse">
            <a:avLst/>
          </a:prstGeom>
          <a:solidFill>
            <a:srgbClr val="ECF0EF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7787" y="4078188"/>
            <a:ext cx="167378" cy="16738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85495" y="4440932"/>
            <a:ext cx="33128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Hyperlocal Ag Weather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785495" y="4690467"/>
            <a:ext cx="3312831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Open-Meteo 7-day agricultural forecasts with optimal spray windows</a:t>
            </a:r>
            <a:endParaRPr lang="en-US" sz="950" dirty="0"/>
          </a:p>
        </p:txBody>
      </p:sp>
      <p:sp>
        <p:nvSpPr>
          <p:cNvPr id="41" name="Shape 31"/>
          <p:cNvSpPr/>
          <p:nvPr/>
        </p:nvSpPr>
        <p:spPr>
          <a:xfrm>
            <a:off x="4315312" y="3851870"/>
            <a:ext cx="3560971" cy="1125339"/>
          </a:xfrm>
          <a:prstGeom prst="roundRect">
            <a:avLst>
              <a:gd name="adj" fmla="val 4630"/>
            </a:avLst>
          </a:prstGeom>
          <a:solidFill>
            <a:srgbClr val="ECF0EF"/>
          </a:solidFill>
          <a:ln/>
        </p:spPr>
      </p:sp>
      <p:sp>
        <p:nvSpPr>
          <p:cNvPr id="42" name="Shape 32"/>
          <p:cNvSpPr/>
          <p:nvPr/>
        </p:nvSpPr>
        <p:spPr>
          <a:xfrm>
            <a:off x="4439333" y="3975894"/>
            <a:ext cx="372061" cy="372070"/>
          </a:xfrm>
          <a:prstGeom prst="ellipse">
            <a:avLst/>
          </a:prstGeom>
          <a:solidFill>
            <a:srgbClr val="ECF0EF"/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541625" y="4078188"/>
            <a:ext cx="167378" cy="167382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4439333" y="4440932"/>
            <a:ext cx="331293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Government Cadastre &amp; Schemes</a:t>
            </a:r>
            <a:endParaRPr lang="en-US" sz="1200" dirty="0"/>
          </a:p>
        </p:txBody>
      </p:sp>
      <p:sp>
        <p:nvSpPr>
          <p:cNvPr id="45" name="Text 34"/>
          <p:cNvSpPr/>
          <p:nvPr/>
        </p:nvSpPr>
        <p:spPr>
          <a:xfrm>
            <a:off x="4439333" y="4690467"/>
            <a:ext cx="3312930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AgriStack GID, ISRO Bhuvan, PM-KISAN, PMFBY &amp; State RoR integrations</a:t>
            </a:r>
            <a:endParaRPr lang="en-US" sz="950" dirty="0"/>
          </a:p>
        </p:txBody>
      </p:sp>
      <p:sp>
        <p:nvSpPr>
          <p:cNvPr id="46" name="Shape 35"/>
          <p:cNvSpPr/>
          <p:nvPr/>
        </p:nvSpPr>
        <p:spPr>
          <a:xfrm>
            <a:off x="7969249" y="3851870"/>
            <a:ext cx="3560872" cy="1125339"/>
          </a:xfrm>
          <a:prstGeom prst="roundRect">
            <a:avLst>
              <a:gd name="adj" fmla="val 4630"/>
            </a:avLst>
          </a:prstGeom>
          <a:solidFill>
            <a:srgbClr val="ECF0EF"/>
          </a:solidFill>
          <a:ln/>
        </p:spPr>
      </p:sp>
      <p:sp>
        <p:nvSpPr>
          <p:cNvPr id="47" name="Shape 36"/>
          <p:cNvSpPr/>
          <p:nvPr/>
        </p:nvSpPr>
        <p:spPr>
          <a:xfrm>
            <a:off x="8093269" y="3975894"/>
            <a:ext cx="372061" cy="372070"/>
          </a:xfrm>
          <a:prstGeom prst="ellipse">
            <a:avLst/>
          </a:prstGeom>
          <a:solidFill>
            <a:srgbClr val="ECF0EF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95561" y="4078188"/>
            <a:ext cx="167378" cy="167382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8093269" y="4440932"/>
            <a:ext cx="33128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Field Polygon Sculpting</a:t>
            </a:r>
            <a:endParaRPr lang="en-US" sz="1200" dirty="0"/>
          </a:p>
        </p:txBody>
      </p:sp>
      <p:sp>
        <p:nvSpPr>
          <p:cNvPr id="50" name="Text 38"/>
          <p:cNvSpPr/>
          <p:nvPr/>
        </p:nvSpPr>
        <p:spPr>
          <a:xfrm>
            <a:off x="8093269" y="4690467"/>
            <a:ext cx="3312831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parcel boundaries with real-time geodesic area calculation (ha/ac)</a:t>
            </a:r>
            <a:endParaRPr lang="en-US" sz="950" dirty="0"/>
          </a:p>
        </p:txBody>
      </p:sp>
      <p:sp>
        <p:nvSpPr>
          <p:cNvPr id="51" name="Shape 39"/>
          <p:cNvSpPr/>
          <p:nvPr/>
        </p:nvSpPr>
        <p:spPr>
          <a:xfrm>
            <a:off x="661475" y="5070177"/>
            <a:ext cx="10868646" cy="1125339"/>
          </a:xfrm>
          <a:prstGeom prst="roundRect">
            <a:avLst>
              <a:gd name="adj" fmla="val 4630"/>
            </a:avLst>
          </a:prstGeom>
          <a:solidFill>
            <a:srgbClr val="ECF0EF"/>
          </a:solidFill>
          <a:ln/>
        </p:spPr>
      </p:sp>
      <p:sp>
        <p:nvSpPr>
          <p:cNvPr id="52" name="Shape 40"/>
          <p:cNvSpPr/>
          <p:nvPr/>
        </p:nvSpPr>
        <p:spPr>
          <a:xfrm>
            <a:off x="785495" y="5194201"/>
            <a:ext cx="372061" cy="372070"/>
          </a:xfrm>
          <a:prstGeom prst="ellipse">
            <a:avLst/>
          </a:prstGeom>
          <a:solidFill>
            <a:srgbClr val="ECF0EF"/>
          </a:solidFill>
          <a:ln/>
        </p:spPr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87787" y="5296495"/>
            <a:ext cx="167378" cy="167382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785495" y="5659239"/>
            <a:ext cx="1062060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10 Languages &amp; Offline Sync</a:t>
            </a:r>
            <a:endParaRPr lang="en-US" sz="1200" dirty="0"/>
          </a:p>
        </p:txBody>
      </p:sp>
      <p:sp>
        <p:nvSpPr>
          <p:cNvPr id="55" name="Text 42"/>
          <p:cNvSpPr/>
          <p:nvPr/>
        </p:nvSpPr>
        <p:spPr>
          <a:xfrm>
            <a:off x="785495" y="5908774"/>
            <a:ext cx="10620605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Indian languages, low-bandwidth caching &amp; recent-search resilience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2414"/>
            <a:ext cx="1215995" cy="213717"/>
          </a:xfrm>
          <a:prstGeom prst="roundRect">
            <a:avLst>
              <a:gd name="adj" fmla="val 22102"/>
            </a:avLst>
          </a:prstGeom>
          <a:solidFill>
            <a:srgbClr val="D4F7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809" y="633016"/>
            <a:ext cx="112412" cy="112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377" y="624582"/>
            <a:ext cx="1488343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11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843855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28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End-to-End Processing Workflow</a:t>
            </a:r>
            <a:pPr algn="l" indent="0" marL="0">
              <a:lnSpc>
                <a:spcPct val="104000"/>
              </a:lnSpc>
              <a:buNone/>
            </a:pPr>
            <a:endParaRPr lang="en-US" sz="2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567" y="1462286"/>
            <a:ext cx="8942561" cy="33556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50017" y="3873426"/>
            <a:ext cx="1348779" cy="519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150186" y="3873426"/>
            <a:ext cx="1348779" cy="519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Domain Services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459593" y="4003342"/>
            <a:ext cx="1348779" cy="259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Node.js API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769000" y="3873426"/>
            <a:ext cx="1348779" cy="519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041455" y="4003342"/>
            <a:ext cx="1348779" cy="259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Farmer Input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61475" y="5086648"/>
            <a:ext cx="3393891" cy="1054596"/>
          </a:xfrm>
          <a:prstGeom prst="roundRect">
            <a:avLst>
              <a:gd name="adj" fmla="val 5599"/>
            </a:avLst>
          </a:prstGeom>
          <a:solidFill>
            <a:srgbClr val="FFFFFF"/>
          </a:solidFill>
          <a:ln w="19050">
            <a:solidFill>
              <a:srgbClr val="ECF0E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1015" y="5246191"/>
            <a:ext cx="3074811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14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 Verified Structured Data</a:t>
            </a:r>
            <a:pPr algn="l" indent="0" marL="0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21015" y="5591572"/>
            <a:ext cx="3074811" cy="39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spc="11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mandi prices from data.gov.in / Agmarknet, Open-Meteo &amp; Sentinel-2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04607" y="5086648"/>
            <a:ext cx="3393891" cy="1054596"/>
          </a:xfrm>
          <a:prstGeom prst="roundRect">
            <a:avLst>
              <a:gd name="adj" fmla="val 5599"/>
            </a:avLst>
          </a:prstGeom>
          <a:solidFill>
            <a:srgbClr val="FFFFFF"/>
          </a:solidFill>
          <a:ln w="19050">
            <a:solidFill>
              <a:srgbClr val="ECF0E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64147" y="5246191"/>
            <a:ext cx="3074811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14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🔢 Deterministic Calculations</a:t>
            </a:r>
            <a:pPr algn="l" indent="0" marL="0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64147" y="5591572"/>
            <a:ext cx="3074811" cy="39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spc="11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value, net return, transport deductions &amp; trend stats — zero AI hallucination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47739" y="5086648"/>
            <a:ext cx="3393891" cy="1054596"/>
          </a:xfrm>
          <a:prstGeom prst="roundRect">
            <a:avLst>
              <a:gd name="adj" fmla="val 5599"/>
            </a:avLst>
          </a:prstGeom>
          <a:solidFill>
            <a:srgbClr val="FFFFFF"/>
          </a:solidFill>
          <a:ln w="19050">
            <a:solidFill>
              <a:srgbClr val="ECF0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307279" y="5246191"/>
            <a:ext cx="3074811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14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🤖 Grounded Gemini 2.0 AI</a:t>
            </a:r>
            <a:pPr algn="l" indent="0" marL="0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8307279" y="5591572"/>
            <a:ext cx="3074811" cy="39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spc="11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Translates, explains &amp; diagnoses — strictly bounded by verified calculations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4360"/>
            <a:ext cx="2025202" cy="251420"/>
          </a:xfrm>
          <a:prstGeom prst="roundRect">
            <a:avLst>
              <a:gd name="adj" fmla="val 22103"/>
            </a:avLst>
          </a:prstGeom>
          <a:solidFill>
            <a:srgbClr val="D4F7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691" y="649224"/>
            <a:ext cx="132255" cy="132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9024" y="640080"/>
            <a:ext cx="223802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896112"/>
            <a:ext cx="10868745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spc="3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Multi-Tier Cloud, AI &amp; Data Architecture</a:t>
            </a:r>
            <a:pPr algn="l" indent="0" marL="0">
              <a:lnSpc>
                <a:spcPct val="104000"/>
              </a:lnSpc>
              <a:buNone/>
            </a:pPr>
            <a:endParaRPr lang="en-US" sz="3250" dirty="0"/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10872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25753"/>
                </a:solidFill>
                <a:latin typeface="Inter"/>
              </a:defRPr>
            </a:pPr>
            <a:r>
              <a:t>Complete structural separation between verified deterministic engines, Gemini 2.0 AI, and agricultural data mesh.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10872216" cy="960120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D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28216"/>
            <a:ext cx="10652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5753"/>
                </a:solidFill>
                <a:latin typeface="Manrope SemiBold"/>
              </a:defRPr>
            </a:pPr>
            <a:r>
              <a:t>TIER 1: CLIENT PRESENTATION LAYER (React 19 SPA)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1947672"/>
            <a:ext cx="2580894" cy="6309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Farmer Responsive Web App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React 19, TypeScript, Vite &amp; Tailwind CSS with high-contrast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8718" y="1947672"/>
            <a:ext cx="2580894" cy="6309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Interactive Geospatial GIS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Leaflet maps with real-time geodesic polygon sculpting (ha/ac)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1947672"/>
            <a:ext cx="2580894" cy="6309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10 Regional Indian Languages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Hindi, Kannada, Telugu, Tamil, Marathi, Bengali, Gujarati, etc.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39962" y="1947672"/>
            <a:ext cx="2580894" cy="6309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Voice &amp; Offline Resilience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Speech synthesis, Kisan Call Centre IVR scripts &amp; cached queries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61488"/>
            <a:ext cx="10872216" cy="960120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D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798064"/>
            <a:ext cx="10652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5753"/>
                </a:solidFill>
                <a:latin typeface="Manrope SemiBold"/>
              </a:defRPr>
            </a:pPr>
            <a:r>
              <a:t>TIER 2: API GATEWAY &amp; APPLICATION SERVER (Node.js 20+ Express)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3017520"/>
            <a:ext cx="2580894" cy="6309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RESTful Microservices Gateway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30+ secured modular endpoints routing farmer analytics requests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8718" y="3017520"/>
            <a:ext cx="2580894" cy="6309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Security &amp; Rate Limiting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Input sanitization, origin verification &amp; DDOS request throttling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9340" y="3017520"/>
            <a:ext cx="2580894" cy="6309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In-Memory Hot Caching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Sub-second TTL caching for mandi commodity price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9962" y="3017520"/>
            <a:ext cx="2580894" cy="6309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Cadastre Query Orchestration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AgriStack GID, ISRO Bhuvan &amp; State land record RoR dispatch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831336"/>
            <a:ext cx="10872216" cy="1051560"/>
          </a:xfrm>
          <a:prstGeom prst="roundRect">
            <a:avLst/>
          </a:prstGeom>
          <a:solidFill>
            <a:srgbClr val="ECF6F0"/>
          </a:solidFill>
          <a:ln w="15240">
            <a:solidFill>
              <a:srgbClr val="125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867912"/>
            <a:ext cx="10652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5753"/>
                </a:solidFill>
                <a:latin typeface="Manrope SemiBold"/>
              </a:defRPr>
            </a:pPr>
            <a:r>
              <a:t>TIER 3: CORE PROCESSING &amp; DUAL INTELLIGENCE ENGINES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" y="4087368"/>
            <a:ext cx="2580894" cy="7223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Deterministic Engine (Zero AI Math)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Exact modal price spreads, gross revenue &amp; net farmer returns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8718" y="4087368"/>
            <a:ext cx="2580894" cy="7223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Google Gemini 2.0 AI Core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Multimodal Vision leaf diagnosis &amp; grounded regional narratives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9340" y="4087368"/>
            <a:ext cx="2580894" cy="7223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Geospatial &amp; Telemetry Core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Google Earth Engine + Sentinel-2 multispectral NDVI/NDWI indices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39962" y="4087368"/>
            <a:ext cx="2580894" cy="7223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Zero-Hallucination Guardrail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Strict boundary isolating financial arithmetic from LLM 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992624"/>
            <a:ext cx="10872216" cy="960120"/>
          </a:xfrm>
          <a:prstGeom prst="roundRect">
            <a:avLst/>
          </a:prstGeom>
          <a:solidFill>
            <a:srgbClr val="F4F8F6"/>
          </a:solidFill>
          <a:ln w="15240">
            <a:solidFill>
              <a:srgbClr val="D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029200"/>
            <a:ext cx="10652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5753"/>
                </a:solidFill>
                <a:latin typeface="Manrope SemiBold"/>
              </a:defRPr>
            </a:pPr>
            <a:r>
              <a:t>TIER 4: FEDERATED DATA MESH &amp; PERSISTENCE LAYER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5248656"/>
            <a:ext cx="2580894" cy="6309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data.gov.in / Agmarknet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Daily verified modal, min &amp; max prices across 3,000+ mandis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8718" y="5248656"/>
            <a:ext cx="2580894" cy="6309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Open-Meteo &amp; IMD Ag-Weather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Hyperlocal 7-day temperature, rainfall, wind &amp; spray windows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9340" y="5248656"/>
            <a:ext cx="2580894" cy="6309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AgriStack &amp; ISRO Bhuvan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Official national land parcel boundaries &amp; soil health cards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39962" y="5248656"/>
            <a:ext cx="2580894" cy="6309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36576"/>
          <a:lstStyle/>
          <a:p>
            <a:pPr algn="ctr">
              <a:spcAft>
                <a:spcPts val="200"/>
              </a:spcAft>
              <a:defRPr sz="850" b="1">
                <a:solidFill>
                  <a:srgbClr val="125753"/>
                </a:solidFill>
                <a:latin typeface="Manrope SemiBold"/>
              </a:defRPr>
            </a:pPr>
            <a:r>
              <a:t>Cloud Firestore &amp; ETSI NGSI-LD</a:t>
            </a:r>
          </a:p>
          <a:p>
            <a:pPr>
              <a:defRPr sz="750">
                <a:solidFill>
                  <a:srgbClr val="465F58"/>
                </a:solidFill>
                <a:latin typeface="Inter"/>
              </a:defRPr>
            </a:pPr>
            <a:r>
              <a:t>Secure persistence store &amp; federated Digital Public Good exchange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26517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125753"/>
                </a:solidFill>
                <a:latin typeface="Inter"/>
              </a:defRPr>
            </a:pPr>
            <a:r>
              <a:t>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72160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125753"/>
                </a:solidFill>
                <a:latin typeface="Inter"/>
              </a:defRPr>
            </a:pPr>
            <a:r>
              <a:t>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88289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125753"/>
                </a:solidFill>
                <a:latin typeface="Inter"/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51694"/>
            <a:ext cx="1809209" cy="251420"/>
          </a:xfrm>
          <a:prstGeom prst="roundRect">
            <a:avLst>
              <a:gd name="adj" fmla="val 22103"/>
            </a:avLst>
          </a:prstGeom>
          <a:solidFill>
            <a:srgbClr val="D4F7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691" y="911225"/>
            <a:ext cx="132255" cy="132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9024" y="901303"/>
            <a:ext cx="202202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116919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spc="33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Built With Modern Technologies</a:t>
            </a:r>
            <a:pPr algn="l" indent="0" marL="0">
              <a:lnSpc>
                <a:spcPct val="104000"/>
              </a:lnSpc>
              <a:buNone/>
            </a:pPr>
            <a:endParaRPr lang="en-US" sz="3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20007"/>
            <a:ext cx="2533686" cy="17846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2017" y="2304355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Frontend Application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22017" y="2728119"/>
            <a:ext cx="208880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 · TypeScript · Vite · Tailwind CSS · Framer Motion · Leaflet GIS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0455" y="2120007"/>
            <a:ext cx="2533686" cy="17846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20997" y="2304355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Backend &amp; API Gateway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620997" y="2728119"/>
            <a:ext cx="2088800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20+ · Express.js · RESTful Gateway · 30+ endpoints · In-Memory Cache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69953"/>
            <a:ext cx="2533686" cy="15366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2017" y="4254302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22017" y="4678065"/>
            <a:ext cx="208880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 2.0 Flash · Gemini Multimodal Vision · Grounded Prompts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60455" y="4069953"/>
            <a:ext cx="2533686" cy="153660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620997" y="4254302"/>
            <a:ext cx="20888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Deployment &amp; Cloud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3620997" y="4678065"/>
            <a:ext cx="2088800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Serverless · Google Cloud Run · Docker Containerization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03904" y="2120007"/>
            <a:ext cx="5232666" cy="104050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564446" y="2304355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Satellite &amp; Geospatial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564446" y="2728119"/>
            <a:ext cx="478778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Earth Engine · Sentinel-2 Multispectral · Geodesic Polygon Tools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03904" y="3325813"/>
            <a:ext cx="5232666" cy="104050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564446" y="3510161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Database &amp; Storage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6564446" y="3933924"/>
            <a:ext cx="478778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Cloud Firestore · In-Memory Hot Store · Local Storage Resilience</a:t>
            </a:r>
            <a:endParaRPr lang="en-US" sz="13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03904" y="4531618"/>
            <a:ext cx="5232666" cy="128855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564446" y="4715966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16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Government &amp; Open Standards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6564446" y="5139730"/>
            <a:ext cx="4787780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13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data.gov.in (Agmarknet) · Open-Meteo · AgriStack · ISRO Bhuvan · ETSI NGSI-LD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1052"/>
            <a:ext cx="2426830" cy="238820"/>
          </a:xfrm>
          <a:prstGeom prst="roundRect">
            <a:avLst>
              <a:gd name="adj" fmla="val 22106"/>
            </a:avLst>
          </a:prstGeom>
          <a:solidFill>
            <a:srgbClr val="D4F7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730" y="697607"/>
            <a:ext cx="125608" cy="1256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4142" y="688181"/>
            <a:ext cx="2659492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12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RESPONSIBLE AI ARCHITECTURE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939502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spc="31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Zero-Hallucination Triad: AI + Deterministic Rigor</a:t>
            </a:r>
            <a:pPr algn="l" indent="0" marL="0">
              <a:lnSpc>
                <a:spcPct val="104000"/>
              </a:lnSpc>
              <a:buNone/>
            </a:pP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356682" y="1654274"/>
            <a:ext cx="11478330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b="1" spc="12" kern="0" dirty="0">
                <a:solidFill>
                  <a:srgbClr val="12575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explains and assists — it never invents market prices or financial calculations.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269" y="2051943"/>
            <a:ext cx="5469098" cy="4165005"/>
          </a:xfrm>
          <a:prstGeom prst="roundRect">
            <a:avLst>
              <a:gd name="adj" fmla="val 2716"/>
            </a:avLst>
          </a:prstGeom>
          <a:solidFill>
            <a:srgbClr val="14746F"/>
          </a:solidFill>
          <a:ln/>
        </p:spPr>
      </p:sp>
      <p:sp>
        <p:nvSpPr>
          <p:cNvPr id="8" name="Text 5"/>
          <p:cNvSpPr/>
          <p:nvPr/>
        </p:nvSpPr>
        <p:spPr>
          <a:xfrm>
            <a:off x="705328" y="2201168"/>
            <a:ext cx="5154980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15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 Verified Data Layer</a:t>
            </a:r>
            <a:pPr algn="l" indent="0" marL="0">
              <a:lnSpc>
                <a:spcPct val="104000"/>
              </a:lnSpc>
              <a:buNone/>
            </a:pP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5328" y="2608659"/>
            <a:ext cx="5154980" cy="1357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sz="950">
                <a:solidFill>
                  <a:srgbClr val="FFFFFF"/>
                </a:solidFill>
                <a:latin typeface="Inter"/>
              </a:rPr>
              <a:t>Real mandi / APMC prices across 3,000+ mandis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  <a:latin typeface="Inter"/>
              </a:rPr>
              <a:t>Modal, minimum &amp; maximum price benchmarks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  <a:latin typeface="Inter"/>
              </a:rPr>
              <a:t>Arrival volumes &amp; seasonal historical records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  <a:latin typeface="Inter"/>
              </a:rPr>
              <a:t>Official open data: data.gov.in / Agmarknet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FFFFFF"/>
                </a:solidFill>
                <a:latin typeface="Inter"/>
              </a:rPr>
              <a:t>Hyperlocal weather via Open-Meteo &amp; IMD</a:t>
            </a:r>
          </a:p>
        </p:txBody>
      </p:sp>
      <p:sp>
        <p:nvSpPr>
          <p:cNvPr id="10" name="Text 7"/>
          <p:cNvSpPr/>
          <p:nvPr/>
        </p:nvSpPr>
        <p:spPr>
          <a:xfrm>
            <a:off x="6293883" y="2201168"/>
            <a:ext cx="5242687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15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🔢 Deterministic Processing</a:t>
            </a:r>
            <a:pPr algn="l" indent="0" marL="0">
              <a:lnSpc>
                <a:spcPct val="104000"/>
              </a:lnSpc>
              <a:buNone/>
            </a:pP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93883" y="2608659"/>
            <a:ext cx="5242687" cy="1357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sz="950">
                <a:solidFill>
                  <a:srgbClr val="125753"/>
                </a:solidFill>
                <a:latin typeface="Inter"/>
              </a:rPr>
              <a:t>Yield &amp; quantity normalization (Quintals/Kg)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950">
                <a:solidFill>
                  <a:srgbClr val="125753"/>
                </a:solidFill>
                <a:latin typeface="Inter"/>
              </a:rPr>
              <a:t>Gross harvest value &amp; net-return calculations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25753"/>
                </a:solidFill>
                <a:latin typeface="Inter"/>
              </a:rPr>
              <a:t>Transport, packaging &amp; commission deductions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25753"/>
                </a:solidFill>
                <a:latin typeface="Inter"/>
              </a:rPr>
              <a:t>Trend statistics &amp; volatility index computation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25753"/>
                </a:solidFill>
                <a:latin typeface="Inter"/>
              </a:rPr>
              <a:t>Zero-LLM math guarantee prevents price fabrication</a:t>
            </a:r>
          </a:p>
        </p:txBody>
      </p:sp>
      <p:sp>
        <p:nvSpPr>
          <p:cNvPr id="12" name="Shape 9"/>
          <p:cNvSpPr/>
          <p:nvPr/>
        </p:nvSpPr>
        <p:spPr>
          <a:xfrm>
            <a:off x="6293883" y="4173438"/>
            <a:ext cx="5242687" cy="19050"/>
          </a:xfrm>
          <a:prstGeom prst="roundRect">
            <a:avLst>
              <a:gd name="adj" fmla="val 49999"/>
            </a:avLst>
          </a:prstGeom>
          <a:solidFill>
            <a:srgbClr val="125753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293883" y="4399558"/>
            <a:ext cx="5242687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15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🤖 Grounded Gemini 2.0 AI</a:t>
            </a:r>
            <a:pPr algn="l" indent="0" marL="0">
              <a:lnSpc>
                <a:spcPct val="104000"/>
              </a:lnSpc>
              <a:buNone/>
            </a:pP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93883" y="4807049"/>
            <a:ext cx="5242687" cy="1357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2000"/>
              </a:lnSpc>
              <a:spcAft>
                <a:spcPts val="400"/>
              </a:spcAft>
              <a:buSzPct val="100000"/>
              <a:buChar char="•"/>
            </a:pPr>
            <a:r>
              <a:rPr sz="950">
                <a:solidFill>
                  <a:srgbClr val="125753"/>
                </a:solidFill>
                <a:latin typeface="Inter"/>
              </a:rPr>
              <a:t>Natural-language market price explanation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950">
                <a:solidFill>
                  <a:srgbClr val="125753"/>
                </a:solidFill>
                <a:latin typeface="Inter"/>
              </a:rPr>
              <a:t>10 Indian languages (Hindi, Kannada, Telugu, etc.)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25753"/>
                </a:solidFill>
                <a:latin typeface="Inter"/>
              </a:rPr>
              <a:t>Agro-climatic crop &amp; irrigation guidance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25753"/>
                </a:solidFill>
                <a:latin typeface="Inter"/>
              </a:rPr>
              <a:t>Leaf disease diagnosis via Gemini Vision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125753"/>
                </a:solidFill>
                <a:latin typeface="Inter"/>
              </a:rPr>
              <a:t>Kisan Call Centre 1800-180-1551 IVR scripts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04527"/>
            <a:ext cx="1056157" cy="185539"/>
          </a:xfrm>
          <a:prstGeom prst="roundRect">
            <a:avLst>
              <a:gd name="adj" fmla="val 22113"/>
            </a:avLst>
          </a:prstGeom>
          <a:solidFill>
            <a:srgbClr val="D4F7F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96" y="548481"/>
            <a:ext cx="97629" cy="976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1140" y="541139"/>
            <a:ext cx="1372855" cy="11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JOURNEY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661475" y="726083"/>
            <a:ext cx="6296860" cy="38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24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End-to-End 6-Step Farmer Flow</a:t>
            </a:r>
            <a:pPr algn="l" indent="0" marL="0">
              <a:lnSpc>
                <a:spcPct val="104000"/>
              </a:lnSpc>
              <a:buNone/>
            </a:pPr>
            <a:endParaRPr lang="en-US" sz="2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58094"/>
            <a:ext cx="122036" cy="122039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61475" y="1437580"/>
            <a:ext cx="6296860" cy="12700"/>
          </a:xfrm>
          <a:prstGeom prst="rect">
            <a:avLst/>
          </a:prstGeom>
          <a:solidFill>
            <a:srgbClr val="ECF0EF"/>
          </a:solidFill>
          <a:ln/>
        </p:spPr>
      </p:sp>
      <p:sp>
        <p:nvSpPr>
          <p:cNvPr id="9" name="Text 4"/>
          <p:cNvSpPr/>
          <p:nvPr/>
        </p:nvSpPr>
        <p:spPr>
          <a:xfrm>
            <a:off x="661475" y="1524000"/>
            <a:ext cx="629686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Select Language &amp; Crop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61475" y="1768773"/>
            <a:ext cx="6296860" cy="159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from 10 Indian languages (English, Hindi, Kannada, Telugu, etc.)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124869"/>
            <a:ext cx="122036" cy="122039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61475" y="2304355"/>
            <a:ext cx="6296860" cy="12700"/>
          </a:xfrm>
          <a:prstGeom prst="rect">
            <a:avLst/>
          </a:prstGeom>
          <a:solidFill>
            <a:srgbClr val="ECF0EF"/>
          </a:solidFill>
          <a:ln/>
        </p:spPr>
      </p:sp>
      <p:sp>
        <p:nvSpPr>
          <p:cNvPr id="13" name="Text 7"/>
          <p:cNvSpPr/>
          <p:nvPr/>
        </p:nvSpPr>
        <p:spPr>
          <a:xfrm>
            <a:off x="661475" y="2390775"/>
            <a:ext cx="629686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Search APMC Mandi Rates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61475" y="2635548"/>
            <a:ext cx="6296860" cy="159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KisanSathi retrieves structured live modal prices from official Agmarknet data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2991644"/>
            <a:ext cx="122036" cy="122039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61475" y="3171130"/>
            <a:ext cx="6296860" cy="12700"/>
          </a:xfrm>
          <a:prstGeom prst="rect">
            <a:avLst/>
          </a:prstGeom>
          <a:solidFill>
            <a:srgbClr val="ECF0EF"/>
          </a:solidFill>
          <a:ln/>
        </p:spPr>
      </p:sp>
      <p:sp>
        <p:nvSpPr>
          <p:cNvPr id="17" name="Text 10"/>
          <p:cNvSpPr/>
          <p:nvPr/>
        </p:nvSpPr>
        <p:spPr>
          <a:xfrm>
            <a:off x="661475" y="3257550"/>
            <a:ext cx="629686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Net-Return &amp; Value Calculation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661475" y="3502323"/>
            <a:ext cx="6296860" cy="159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calculation of gross yield value and net returns after transport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858419"/>
            <a:ext cx="122036" cy="122039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61475" y="4037905"/>
            <a:ext cx="6296860" cy="12700"/>
          </a:xfrm>
          <a:prstGeom prst="rect">
            <a:avLst/>
          </a:prstGeom>
          <a:solidFill>
            <a:srgbClr val="ECF0EF"/>
          </a:solidFill>
          <a:ln/>
        </p:spPr>
      </p:sp>
      <p:sp>
        <p:nvSpPr>
          <p:cNvPr id="21" name="Text 13"/>
          <p:cNvSpPr/>
          <p:nvPr/>
        </p:nvSpPr>
        <p:spPr>
          <a:xfrm>
            <a:off x="661475" y="4124325"/>
            <a:ext cx="629686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Grounded AI Market Insights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61475" y="4369098"/>
            <a:ext cx="6296860" cy="159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translates complex market spreads into clear regional-language advice</a:t>
            </a:r>
            <a:endParaRPr lang="en-US" sz="9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4725194"/>
            <a:ext cx="122036" cy="122039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61475" y="4904680"/>
            <a:ext cx="6296860" cy="12700"/>
          </a:xfrm>
          <a:prstGeom prst="rect">
            <a:avLst/>
          </a:prstGeom>
          <a:solidFill>
            <a:srgbClr val="ECF0EF"/>
          </a:solidFill>
          <a:ln/>
        </p:spPr>
      </p:sp>
      <p:sp>
        <p:nvSpPr>
          <p:cNvPr id="25" name="Text 16"/>
          <p:cNvSpPr/>
          <p:nvPr/>
        </p:nvSpPr>
        <p:spPr>
          <a:xfrm>
            <a:off x="661475" y="4991100"/>
            <a:ext cx="629686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Field Health &amp; Disease Diagnosis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661475" y="5235873"/>
            <a:ext cx="6296860" cy="159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parcel polygon on Sentinel-2 satellite map &amp; photo leaf for Gemini diagnosis</a:t>
            </a:r>
            <a:endParaRPr lang="en-US" sz="9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5591969"/>
            <a:ext cx="122036" cy="122039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61475" y="5771455"/>
            <a:ext cx="6296860" cy="12700"/>
          </a:xfrm>
          <a:prstGeom prst="rect">
            <a:avLst/>
          </a:prstGeom>
          <a:solidFill>
            <a:srgbClr val="ECF0EF"/>
          </a:solidFill>
          <a:ln/>
        </p:spPr>
      </p:sp>
      <p:sp>
        <p:nvSpPr>
          <p:cNvPr id="29" name="Text 19"/>
          <p:cNvSpPr/>
          <p:nvPr/>
        </p:nvSpPr>
        <p:spPr>
          <a:xfrm>
            <a:off x="661475" y="5857875"/>
            <a:ext cx="6296860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12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Checklist, Decision &amp; IVR Support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661475" y="6102648"/>
            <a:ext cx="6296860" cy="159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10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pre-sale checklist or trigger 1-tap Kisan Call Centre (1800-180-1551) escalation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34381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057102"/>
            <a:ext cx="1319179" cy="163413"/>
          </a:xfrm>
          <a:prstGeom prst="roundRect">
            <a:avLst>
              <a:gd name="adj" fmla="val 22104"/>
            </a:avLst>
          </a:prstGeom>
          <a:solidFill>
            <a:srgbClr val="D4F7F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65" y="2095798"/>
            <a:ext cx="85921" cy="859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4847" y="2089348"/>
            <a:ext cx="1670901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spc="8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HIGHLIGHTS</a:t>
            </a:r>
            <a:endParaRPr lang="en-US" sz="650" dirty="0"/>
          </a:p>
        </p:txBody>
      </p:sp>
      <p:sp>
        <p:nvSpPr>
          <p:cNvPr id="6" name="Text 2"/>
          <p:cNvSpPr/>
          <p:nvPr/>
        </p:nvSpPr>
        <p:spPr>
          <a:xfrm>
            <a:off x="661475" y="2248396"/>
            <a:ext cx="5303308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17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What Makes KisanSathi Different</a:t>
            </a:r>
            <a:pPr algn="l" indent="0" marL="0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73113" y="2632571"/>
            <a:ext cx="499167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1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Dual-Engine Hybrid Rigor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973113" y="2870299"/>
            <a:ext cx="499167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8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government data + deterministic math + AI synthesis — 0% hallucinated numbers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973113" y="3179961"/>
            <a:ext cx="499167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1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Full-Spectrum Satellite GIS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73113" y="3417689"/>
            <a:ext cx="499167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8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Earth Engine + Sentinel-2 multispectral NDVI/NDWI crop health mapping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973113" y="3727351"/>
            <a:ext cx="499167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1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Interactive Polygon Sculpting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73113" y="3965079"/>
            <a:ext cx="499167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8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geodesic field area calculation (ha/ac) with multi-cadastre overlays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973113" y="4274741"/>
            <a:ext cx="499167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1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Production Cloud-Ready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73113" y="4512469"/>
            <a:ext cx="499167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8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+ Google Cloud Run + Docker with 30+ secured REST endpoints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233262" y="2057102"/>
            <a:ext cx="926085" cy="163413"/>
          </a:xfrm>
          <a:prstGeom prst="roundRect">
            <a:avLst>
              <a:gd name="adj" fmla="val 22104"/>
            </a:avLst>
          </a:prstGeom>
          <a:solidFill>
            <a:srgbClr val="D4F7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753" y="2095798"/>
            <a:ext cx="85921" cy="859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6635" y="2089348"/>
            <a:ext cx="1277806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spc="8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650" dirty="0"/>
          </a:p>
        </p:txBody>
      </p:sp>
      <p:sp>
        <p:nvSpPr>
          <p:cNvPr id="18" name="Text 13"/>
          <p:cNvSpPr/>
          <p:nvPr/>
        </p:nvSpPr>
        <p:spPr>
          <a:xfrm>
            <a:off x="6233262" y="2248396"/>
            <a:ext cx="5303308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17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Roadmap &amp; Expansion</a:t>
            </a:r>
            <a:pPr algn="l" indent="0" marL="0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544900" y="2632571"/>
            <a:ext cx="499167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1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AgriStack Farmer ID Locker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544900" y="2870299"/>
            <a:ext cx="499167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8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farmer digital identity &amp; personalized soil health record vault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6544900" y="3179961"/>
            <a:ext cx="499167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1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WhatsApp &amp; IVR Voice Bot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544900" y="3417689"/>
            <a:ext cx="499167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8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Voice-based market inquiries on feature phones via IVR &amp; WhatsApp bot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544900" y="3727351"/>
            <a:ext cx="499167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1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Cooperative Mandi Logistics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544900" y="3965079"/>
            <a:ext cx="499167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8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Collective transport pooling for smallholders to slash freight costs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544900" y="4274741"/>
            <a:ext cx="499167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1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Soil Carbon Credit Verification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544900" y="4512469"/>
            <a:ext cx="499167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8" kern="0" dirty="0">
                <a:solidFill>
                  <a:srgbClr val="1257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Satellite-verified regenerative practices for farmer carbon credit monetization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661475" y="4829473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125753">
              <a:alpha val="5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661475" y="4973737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00" spc="21" kern="0" dirty="0">
                <a:solidFill>
                  <a:srgbClr val="125753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KisanSathi — From Agricultural Data to Better Farmer Decisions</a:t>
            </a:r>
            <a:pPr algn="ctr" indent="0" marL="0">
              <a:lnSpc>
                <a:spcPct val="104000"/>
              </a:lnSpc>
              <a:buNone/>
            </a:pPr>
            <a:endParaRPr lang="en-US" sz="2100" dirty="0"/>
          </a:p>
        </p:txBody>
      </p:sp>
      <p:sp>
        <p:nvSpPr>
          <p:cNvPr id="29" name="Shape 24"/>
          <p:cNvSpPr/>
          <p:nvPr/>
        </p:nvSpPr>
        <p:spPr>
          <a:xfrm>
            <a:off x="661475" y="5414466"/>
            <a:ext cx="3576350" cy="564059"/>
          </a:xfrm>
          <a:prstGeom prst="roundRect">
            <a:avLst>
              <a:gd name="adj" fmla="val 8005"/>
            </a:avLst>
          </a:prstGeom>
          <a:solidFill>
            <a:srgbClr val="ECF0EF"/>
          </a:solidFill>
          <a:ln/>
        </p:spPr>
      </p:sp>
      <p:sp>
        <p:nvSpPr>
          <p:cNvPr id="30" name="Text 25"/>
          <p:cNvSpPr/>
          <p:nvPr/>
        </p:nvSpPr>
        <p:spPr>
          <a:xfrm>
            <a:off x="768926" y="5521920"/>
            <a:ext cx="3361447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1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📊 Data-Driven</a:t>
            </a:r>
            <a:pPr algn="l" indent="0" marL="0">
              <a:lnSpc>
                <a:spcPct val="104000"/>
              </a:lnSpc>
              <a:buNone/>
            </a:pP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768926" y="5738019"/>
            <a:ext cx="3361447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market, satellite and cadastre data across 3,000+ mandis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307673" y="5414466"/>
            <a:ext cx="3576350" cy="564059"/>
          </a:xfrm>
          <a:prstGeom prst="roundRect">
            <a:avLst>
              <a:gd name="adj" fmla="val 8005"/>
            </a:avLst>
          </a:prstGeom>
          <a:solidFill>
            <a:srgbClr val="ECF0EF"/>
          </a:solidFill>
          <a:ln/>
        </p:spPr>
      </p:sp>
      <p:sp>
        <p:nvSpPr>
          <p:cNvPr id="33" name="Text 28"/>
          <p:cNvSpPr/>
          <p:nvPr/>
        </p:nvSpPr>
        <p:spPr>
          <a:xfrm>
            <a:off x="4415124" y="5521920"/>
            <a:ext cx="3361447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1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🤖 Responsible AI</a:t>
            </a:r>
            <a:pPr algn="l" indent="0" marL="0">
              <a:lnSpc>
                <a:spcPct val="104000"/>
              </a:lnSpc>
              <a:buNone/>
            </a:pP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4415124" y="5738019"/>
            <a:ext cx="3361447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2.0 explains, advises and diagnoses with zero hallucination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7953871" y="5414466"/>
            <a:ext cx="3576350" cy="564059"/>
          </a:xfrm>
          <a:prstGeom prst="roundRect">
            <a:avLst>
              <a:gd name="adj" fmla="val 8005"/>
            </a:avLst>
          </a:prstGeom>
          <a:solidFill>
            <a:srgbClr val="ECF0EF"/>
          </a:solidFill>
          <a:ln/>
        </p:spPr>
      </p:sp>
      <p:sp>
        <p:nvSpPr>
          <p:cNvPr id="36" name="Text 31"/>
          <p:cNvSpPr/>
          <p:nvPr/>
        </p:nvSpPr>
        <p:spPr>
          <a:xfrm>
            <a:off x="8061322" y="5521920"/>
            <a:ext cx="3361447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spc="11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🌾 Farmer-First</a:t>
            </a:r>
            <a:pPr algn="l" indent="0" marL="0">
              <a:lnSpc>
                <a:spcPct val="104000"/>
              </a:lnSpc>
              <a:buNone/>
            </a:pP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8061322" y="5738019"/>
            <a:ext cx="3361447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Indian languages, accessible UI &amp; 1800-180-1551 Kisan Call Centre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356682" y="6057106"/>
            <a:ext cx="11478330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b="1" spc="8" kern="0" dirty="0">
                <a:solidFill>
                  <a:srgbClr val="12575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 ·  Questions &amp; Demonstration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2026-09-30T05:30:45Z</dcterms:created>
  <dcterms:modified xsi:type="dcterms:W3CDTF">2026-09-30T05:30:45Z</dcterms:modified>
</cp:coreProperties>
</file>